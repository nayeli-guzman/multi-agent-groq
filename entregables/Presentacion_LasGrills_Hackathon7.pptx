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lanteamiento" id="{0d83c6dc-c5c6-2ce8-79ab-656e2ac6d5aa}">
          <p14:sldIdLst>
            <p14:sldId id="256"/>
            <p14:sldId id="257"/>
          </p14:sldIdLst>
        </p14:section>
        <p14:section name="Diseño" id="{318f099a-018a-0471-c8bf-b7fceefdfaeb}">
          <p14:sldIdLst>
            <p14:sldId id="258"/>
            <p14:sldId id="259"/>
          </p14:sldIdLst>
        </p14:section>
        <p14:section name="Implementación" id="{230adcba-b32a-218a-2ad3-d6a2ce9ede3d}">
          <p14:sldIdLst>
            <p14:sldId id="260"/>
            <p14:sldId id="261"/>
          </p14:sldIdLst>
        </p14:section>
        <p14:section name="Resultados" id="{1eb08872-9b5a-e780-e13a-1699a21c1a9d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al equipo y el caso. Frase clave: cada mañana el jefe de despacho decide qué vehículo lleva cada pedido; nuestro sistema le da tres alternativas medidas y una recomendación justificada.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peso de cada criterio depende del objetivo del día (input 5). La factibilidad es una restricción dura: capacidad, frío, prohibiciones y cobertura.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Principio de diseño: el LLM interpreta y juzga; el código calcula y verifica. Azul = agentes con tools; naranja = agentes que razonan sobre datos verificados.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Hay compuertas de validación en código entre agentes: validación de inputs, del JSON del planificador, simulación de respaldo y auditoría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Groq limita los tokens por minuto por modelo: el Analista usa qwen3.8-27b (tool calls en paralelo, respuestas cortas) y Planificador, Evaluador y Decisor usan gpt-oss-120b (razonamiento, JSON estricto y respuestas largas: qwen solo admite 1000 tokens de salida por minuto). Llama ya no estaba disponible en Groq: el gestor lo detecta y usa la cadena de respaldo. Recomendamos 3 o más keys para 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Pegar los inputs en SOLICITUD_DEMO, poner EJECUTAR_DEMO = True y ejecutar. Narrar las tool calls del Analista y del Evaluador. Al final mostrar decisión, auditoría y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cifras salen del simulador, no del texto del LLM. Ser honestos con la comparación contra la heurística: el valor de los agentes está en entender lenguaje natural, proponer lógicas distintas y explicar los trade-offs.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el principio de diseño. Quedarse para la ronda de preguntas y hacer al menos una pregunta o sugerencia a otro equipo (1 punto de la rúbrica).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10896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Grills · Hackathon 7 · RutaBrasa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Grills · Hackathon 7 · RutaBrasa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RutaBrasa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1089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multi-agente con Groq para planificar el reparto de una distribuidora en Lima</a:t>
            </a:r>
            <a:endParaRPr lang="en-US" sz="2000" dirty="0"/>
          </a:p>
        </p:txBody>
      </p:sp>
      <p:sp>
        <p:nvSpPr>
          <p:cNvPr id="4" name="equipo"/>
          <p:cNvSpPr txBox="1"/>
          <p:nvPr/>
        </p:nvSpPr>
        <p:spPr>
          <a:xfrm>
            <a:off x="548640" y="4846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Grills · Caso 3: Planificador logístico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Jimena Gurbillon · Maria Surco · Nayeli Guzman · Bihonda Epiquien · Andrea Coa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7 · Planificación y Toma de Decisiones en IA · UTEC · 14 de octubre de 2026</a:t>
            </a:r>
            <a:endParaRPr lang="en-US" sz="1400" dirty="0"/>
          </a:p>
        </p:txBody>
      </p:sp>
      <p:sp>
        <p:nvSpPr>
          <p:cNvPr id="5" name="portada camión círculo"/>
          <p:cNvSpPr/>
          <p:nvPr/>
        </p:nvSpPr>
        <p:spPr>
          <a:xfrm>
            <a:off x="8915400" y="1691640"/>
            <a:ext cx="2651760" cy="265176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6" name="portada camión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1822" y="2328062"/>
            <a:ext cx="1378915" cy="13789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problema: cada mañana, ~19 pedidos y 5 vehículos</a:t>
            </a:r>
            <a:endParaRPr lang="en-US" sz="3000" dirty="0"/>
          </a:p>
        </p:txBody>
      </p:sp>
      <p:sp>
        <p:nvSpPr>
          <p:cNvPr id="3" name="Contexto círculo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4" name="Contexto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492301"/>
            <a:ext cx="261518" cy="261518"/>
          </a:xfrm>
          <a:prstGeom prst="rect">
            <a:avLst/>
          </a:prstGeom>
        </p:spPr>
      </p:pic>
      <p:sp>
        <p:nvSpPr>
          <p:cNvPr id="5" name="fila Contexto"/>
          <p:cNvSpPr txBox="1"/>
          <p:nvPr/>
        </p:nvSpPr>
        <p:spPr>
          <a:xfrm>
            <a:off x="1234440" y="132588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 (ficticia) en Surquillo que abastece a pollerías y parrillas con carne refrigerada, carbón y abarrotes.</a:t>
            </a:r>
            <a:endParaRPr lang="en-US" sz="1600" dirty="0"/>
          </a:p>
        </p:txBody>
      </p:sp>
      <p:sp>
        <p:nvSpPr>
          <p:cNvPr id="6" name="Decisión a apoyar círculo"/>
          <p:cNvSpPr/>
          <p:nvPr/>
        </p:nvSpPr>
        <p:spPr>
          <a:xfrm>
            <a:off x="548640" y="2395728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7" name="Decisión a apoyar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2516429"/>
            <a:ext cx="261518" cy="261518"/>
          </a:xfrm>
          <a:prstGeom prst="rect">
            <a:avLst/>
          </a:prstGeom>
        </p:spPr>
      </p:pic>
      <p:sp>
        <p:nvSpPr>
          <p:cNvPr id="8" name="fila Decisión a apoyar"/>
          <p:cNvSpPr txBox="1"/>
          <p:nvPr/>
        </p:nvSpPr>
        <p:spPr>
          <a:xfrm>
            <a:off x="1234440" y="2350008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a apoyar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vehículo lleva cada pedido, en qué orden y si alguno hace una segunda vuelta.</a:t>
            </a:r>
            <a:endParaRPr lang="en-US" sz="1600" dirty="0"/>
          </a:p>
        </p:txBody>
      </p:sp>
      <p:sp>
        <p:nvSpPr>
          <p:cNvPr id="9" name="Usuario círculo"/>
          <p:cNvSpPr/>
          <p:nvPr/>
        </p:nvSpPr>
        <p:spPr>
          <a:xfrm>
            <a:off x="548640" y="3419856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Usuari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3540557"/>
            <a:ext cx="261518" cy="261518"/>
          </a:xfrm>
          <a:prstGeom prst="rect">
            <a:avLst/>
          </a:prstGeom>
        </p:spPr>
      </p:pic>
      <p:sp>
        <p:nvSpPr>
          <p:cNvPr id="11" name="fila Usuario"/>
          <p:cNvSpPr txBox="1"/>
          <p:nvPr/>
        </p:nvSpPr>
        <p:spPr>
          <a:xfrm>
            <a:off x="1234440" y="3374136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jefe de despacho aprueba; choferes y área comercial usan las hojas de ruta y las ETA.</a:t>
            </a:r>
            <a:endParaRPr lang="en-US" sz="1600" dirty="0"/>
          </a:p>
        </p:txBody>
      </p:sp>
      <p:sp>
        <p:nvSpPr>
          <p:cNvPr id="12" name="Impacto círculo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3" name="Impacto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4564685"/>
            <a:ext cx="261518" cy="261518"/>
          </a:xfrm>
          <a:prstGeom prst="rect">
            <a:avLst/>
          </a:prstGeom>
        </p:spPr>
      </p:pic>
      <p:sp>
        <p:nvSpPr>
          <p:cNvPr id="14" name="fila Impacto"/>
          <p:cNvSpPr txBox="1"/>
          <p:nvPr/>
        </p:nvSpPr>
        <p:spPr>
          <a:xfrm>
            <a:off x="1234440" y="4398264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Planificar en ~2 min en vez de ~45 y saber antes de salir qué pedidos no se van a cumplir.</a:t>
            </a:r>
            <a:endParaRPr lang="en-US" sz="1600" dirty="0"/>
          </a:p>
        </p:txBody>
      </p:sp>
      <p:sp>
        <p:nvSpPr>
          <p:cNvPr id="15" name="dato 1"/>
          <p:cNvSpPr/>
          <p:nvPr/>
        </p:nvSpPr>
        <p:spPr>
          <a:xfrm>
            <a:off x="7680960" y="1325880"/>
            <a:ext cx="39319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dato 1 texto"/>
          <p:cNvSpPr txBox="1"/>
          <p:nvPr/>
        </p:nvSpPr>
        <p:spPr>
          <a:xfrm>
            <a:off x="7909560" y="1417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×1.7</a:t>
            </a:r>
            <a:endParaRPr lang="en-US" sz="32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de viaje en hora punta (7:00–10:00)</a:t>
            </a:r>
            <a:endParaRPr lang="en-US" sz="3200" dirty="0"/>
          </a:p>
        </p:txBody>
      </p:sp>
      <p:sp>
        <p:nvSpPr>
          <p:cNvPr id="17" name="dato 2"/>
          <p:cNvSpPr/>
          <p:nvPr/>
        </p:nvSpPr>
        <p:spPr>
          <a:xfrm>
            <a:off x="7680960" y="2697480"/>
            <a:ext cx="39319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dato 2 texto"/>
          <p:cNvSpPr txBox="1"/>
          <p:nvPr/>
        </p:nvSpPr>
        <p:spPr>
          <a:xfrm>
            <a:off x="7909560" y="27889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32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carga es refrigerada: cadena de frío</a:t>
            </a:r>
            <a:endParaRPr lang="en-US" sz="3200" dirty="0"/>
          </a:p>
        </p:txBody>
      </p:sp>
      <p:sp>
        <p:nvSpPr>
          <p:cNvPr id="19" name="dato 3"/>
          <p:cNvSpPr/>
          <p:nvPr/>
        </p:nvSpPr>
        <p:spPr>
          <a:xfrm>
            <a:off x="7680960" y="4069080"/>
            <a:ext cx="39319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ato 3 texto"/>
          <p:cNvSpPr txBox="1"/>
          <p:nvPr/>
        </p:nvSpPr>
        <p:spPr>
          <a:xfrm>
            <a:off x="7909560" y="41605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8:00–12:30</a:t>
            </a:r>
            <a:endParaRPr lang="en-US" sz="32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ventanas de recepción, antes del almuerzo</a:t>
            </a:r>
            <a:endParaRPr lang="en-US" sz="320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56509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Criterios:</a:t>
            </a:r>
            <a:endParaRPr lang="en-US" sz="1400" dirty="0"/>
          </a:p>
        </p:txBody>
      </p:sp>
      <p:sp>
        <p:nvSpPr>
          <p:cNvPr id="22" name="criterio Factibilidad (dura)"/>
          <p:cNvSpPr/>
          <p:nvPr/>
        </p:nvSpPr>
        <p:spPr>
          <a:xfrm>
            <a:off x="1645920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criterio Factibilidad (dura) texto"/>
          <p:cNvSpPr txBox="1"/>
          <p:nvPr/>
        </p:nvSpPr>
        <p:spPr>
          <a:xfrm>
            <a:off x="1645920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Factibilidad (dura)</a:t>
            </a:r>
            <a:endParaRPr lang="en-US" sz="1200" dirty="0"/>
          </a:p>
        </p:txBody>
      </p:sp>
      <p:sp>
        <p:nvSpPr>
          <p:cNvPr id="24" name="criterio Puntualidad"/>
          <p:cNvSpPr/>
          <p:nvPr/>
        </p:nvSpPr>
        <p:spPr>
          <a:xfrm>
            <a:off x="3310128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riterio Puntualidad texto"/>
          <p:cNvSpPr txBox="1"/>
          <p:nvPr/>
        </p:nvSpPr>
        <p:spPr>
          <a:xfrm>
            <a:off x="3310128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Puntualidad</a:t>
            </a:r>
            <a:endParaRPr lang="en-US" sz="1200" dirty="0"/>
          </a:p>
        </p:txBody>
      </p:sp>
      <p:sp>
        <p:nvSpPr>
          <p:cNvPr id="26" name="criterio Costo"/>
          <p:cNvSpPr/>
          <p:nvPr/>
        </p:nvSpPr>
        <p:spPr>
          <a:xfrm>
            <a:off x="4974336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riterio Costo texto"/>
          <p:cNvSpPr txBox="1"/>
          <p:nvPr/>
        </p:nvSpPr>
        <p:spPr>
          <a:xfrm>
            <a:off x="4974336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</a:t>
            </a:r>
            <a:endParaRPr lang="en-US" sz="1200" dirty="0"/>
          </a:p>
        </p:txBody>
      </p:sp>
      <p:sp>
        <p:nvSpPr>
          <p:cNvPr id="28" name="criterio Tiempo total"/>
          <p:cNvSpPr/>
          <p:nvPr/>
        </p:nvSpPr>
        <p:spPr>
          <a:xfrm>
            <a:off x="6638544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riterio Tiempo total texto"/>
          <p:cNvSpPr txBox="1"/>
          <p:nvPr/>
        </p:nvSpPr>
        <p:spPr>
          <a:xfrm>
            <a:off x="6638544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total</a:t>
            </a:r>
            <a:endParaRPr lang="en-US" sz="1200" dirty="0"/>
          </a:p>
        </p:txBody>
      </p:sp>
      <p:sp>
        <p:nvSpPr>
          <p:cNvPr id="30" name="criterio Robustez"/>
          <p:cNvSpPr/>
          <p:nvPr/>
        </p:nvSpPr>
        <p:spPr>
          <a:xfrm>
            <a:off x="8302752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criterio Robustez texto"/>
          <p:cNvSpPr txBox="1"/>
          <p:nvPr/>
        </p:nvSpPr>
        <p:spPr>
          <a:xfrm>
            <a:off x="8302752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Robustez</a:t>
            </a:r>
            <a:endParaRPr lang="en-US" sz="1200" dirty="0"/>
          </a:p>
        </p:txBody>
      </p:sp>
      <p:sp>
        <p:nvSpPr>
          <p:cNvPr id="32" name="criterio Complejidad"/>
          <p:cNvSpPr/>
          <p:nvPr/>
        </p:nvSpPr>
        <p:spPr>
          <a:xfrm>
            <a:off x="9966960" y="5650992"/>
            <a:ext cx="155448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criterio Complejidad texto"/>
          <p:cNvSpPr txBox="1"/>
          <p:nvPr/>
        </p:nvSpPr>
        <p:spPr>
          <a:xfrm>
            <a:off x="9966960" y="5650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Complejidad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Cuatro agentes, cuatro formas distintas de fallar</a:t>
            </a:r>
            <a:endParaRPr lang="en-US" sz="3000" dirty="0"/>
          </a:p>
        </p:txBody>
      </p:sp>
      <p:sp>
        <p:nvSpPr>
          <p:cNvPr id="3" name="tarjeta 1 · Analista"/>
          <p:cNvSpPr/>
          <p:nvPr/>
        </p:nvSpPr>
        <p:spPr>
          <a:xfrm>
            <a:off x="548640" y="1325880"/>
            <a:ext cx="2651760" cy="3611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1 · Analista círculo"/>
          <p:cNvSpPr/>
          <p:nvPr/>
        </p:nvSpPr>
        <p:spPr>
          <a:xfrm>
            <a:off x="777240" y="1536192"/>
            <a:ext cx="640080" cy="6400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5" name="1 · Analista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689811"/>
            <a:ext cx="332842" cy="332842"/>
          </a:xfrm>
          <a:prstGeom prst="rect">
            <a:avLst/>
          </a:prstGeom>
        </p:spPr>
      </p:pic>
      <p:sp>
        <p:nvSpPr>
          <p:cNvPr id="6" name="1 · Analista nombre"/>
          <p:cNvSpPr txBox="1"/>
          <p:nvPr/>
        </p:nvSpPr>
        <p:spPr>
          <a:xfrm>
            <a:off x="777240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Analista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qwen3.8-27b · 6 tools</a:t>
            </a:r>
            <a:endParaRPr lang="en-US" sz="1800" dirty="0"/>
          </a:p>
        </p:txBody>
      </p:sp>
      <p:sp>
        <p:nvSpPr>
          <p:cNvPr id="7" name="1 · Analista hace"/>
          <p:cNvSpPr txBox="1"/>
          <p:nvPr/>
        </p:nvSpPr>
        <p:spPr>
          <a:xfrm>
            <a:off x="777240" y="3063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Traduce el prompt en cambios validados en el estado.</a:t>
            </a:r>
            <a:endParaRPr lang="en-US" sz="1400" dirty="0"/>
          </a:p>
        </p:txBody>
      </p:sp>
      <p:sp>
        <p:nvSpPr>
          <p:cNvPr id="8" name="1 · Analista falla"/>
          <p:cNvSpPr txBox="1"/>
          <p:nvPr/>
        </p:nvSpPr>
        <p:spPr>
          <a:xfrm>
            <a:off x="777240" y="39776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 datos → tools que validan</a:t>
            </a:r>
            <a:endParaRPr lang="en-US" sz="1300" dirty="0"/>
          </a:p>
        </p:txBody>
      </p:sp>
      <p:sp>
        <p:nvSpPr>
          <p:cNvPr id="9" name="tarjeta 2 · Planificador"/>
          <p:cNvSpPr/>
          <p:nvPr/>
        </p:nvSpPr>
        <p:spPr>
          <a:xfrm>
            <a:off x="3346704" y="1325880"/>
            <a:ext cx="2651760" cy="3611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2 · Planificador círculo"/>
          <p:cNvSpPr/>
          <p:nvPr/>
        </p:nvSpPr>
        <p:spPr>
          <a:xfrm>
            <a:off x="3575304" y="1536192"/>
            <a:ext cx="640080" cy="64008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1" name="2 · Planificador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923" y="1689811"/>
            <a:ext cx="332842" cy="332842"/>
          </a:xfrm>
          <a:prstGeom prst="rect">
            <a:avLst/>
          </a:prstGeom>
        </p:spPr>
      </p:pic>
      <p:sp>
        <p:nvSpPr>
          <p:cNvPr id="12" name="2 · Planificador nombre"/>
          <p:cNvSpPr txBox="1"/>
          <p:nvPr/>
        </p:nvSpPr>
        <p:spPr>
          <a:xfrm>
            <a:off x="3575304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Planificador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 · JSON estricto</a:t>
            </a:r>
            <a:endParaRPr lang="en-US" sz="1800" dirty="0"/>
          </a:p>
        </p:txBody>
      </p:sp>
      <p:sp>
        <p:nvSpPr>
          <p:cNvPr id="13" name="2 · Planificador hace"/>
          <p:cNvSpPr txBox="1"/>
          <p:nvPr/>
        </p:nvSpPr>
        <p:spPr>
          <a:xfrm>
            <a:off x="3575304" y="3063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Propone 3 estrategias; el código agrega una línea base H.</a:t>
            </a:r>
            <a:endParaRPr lang="en-US" sz="1400" dirty="0"/>
          </a:p>
        </p:txBody>
      </p:sp>
      <p:sp>
        <p:nvSpPr>
          <p:cNvPr id="14" name="2 · Planificador falla"/>
          <p:cNvSpPr txBox="1"/>
          <p:nvPr/>
        </p:nvSpPr>
        <p:spPr>
          <a:xfrm>
            <a:off x="3575304" y="39776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Variantes cosméticas → 3 lógicas obligatorias</a:t>
            </a:r>
            <a:endParaRPr lang="en-US" sz="1300" dirty="0"/>
          </a:p>
        </p:txBody>
      </p:sp>
      <p:sp>
        <p:nvSpPr>
          <p:cNvPr id="15" name="tarjeta 3 · Evaluador"/>
          <p:cNvSpPr/>
          <p:nvPr/>
        </p:nvSpPr>
        <p:spPr>
          <a:xfrm>
            <a:off x="6144768" y="1325880"/>
            <a:ext cx="2651760" cy="3611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3 · Evaluador círculo"/>
          <p:cNvSpPr/>
          <p:nvPr/>
        </p:nvSpPr>
        <p:spPr>
          <a:xfrm>
            <a:off x="6373368" y="1536192"/>
            <a:ext cx="640080" cy="6400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3 · Evaluador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987" y="1689811"/>
            <a:ext cx="332842" cy="332842"/>
          </a:xfrm>
          <a:prstGeom prst="rect">
            <a:avLst/>
          </a:prstGeom>
        </p:spPr>
      </p:pic>
      <p:sp>
        <p:nvSpPr>
          <p:cNvPr id="18" name="3 · Evaluador nombre"/>
          <p:cNvSpPr txBox="1"/>
          <p:nvPr/>
        </p:nvSpPr>
        <p:spPr>
          <a:xfrm>
            <a:off x="6373368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Evaluador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 · 2 tools</a:t>
            </a:r>
            <a:endParaRPr lang="en-US" sz="1800" dirty="0"/>
          </a:p>
        </p:txBody>
      </p:sp>
      <p:sp>
        <p:nvSpPr>
          <p:cNvPr id="19" name="3 · Evaluador hace"/>
          <p:cNvSpPr txBox="1"/>
          <p:nvPr/>
        </p:nvSpPr>
        <p:spPr>
          <a:xfrm>
            <a:off x="6373368" y="3063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 y compara tiempo, costo, complejidad y riesgo.</a:t>
            </a:r>
            <a:endParaRPr lang="en-US" sz="1400" dirty="0"/>
          </a:p>
        </p:txBody>
      </p:sp>
      <p:sp>
        <p:nvSpPr>
          <p:cNvPr id="20" name="3 · Evaluador falla"/>
          <p:cNvSpPr txBox="1"/>
          <p:nvPr/>
        </p:nvSpPr>
        <p:spPr>
          <a:xfrm>
            <a:off x="6373368" y="39776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Opinar sin medir → simular es obligatorio</a:t>
            </a:r>
            <a:endParaRPr lang="en-US" sz="1300" dirty="0"/>
          </a:p>
        </p:txBody>
      </p:sp>
      <p:sp>
        <p:nvSpPr>
          <p:cNvPr id="21" name="tarjeta 4 · Decisor"/>
          <p:cNvSpPr/>
          <p:nvPr/>
        </p:nvSpPr>
        <p:spPr>
          <a:xfrm>
            <a:off x="8942832" y="1325880"/>
            <a:ext cx="2651760" cy="361188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4 · Decisor círculo"/>
          <p:cNvSpPr/>
          <p:nvPr/>
        </p:nvSpPr>
        <p:spPr>
          <a:xfrm>
            <a:off x="9171432" y="1536192"/>
            <a:ext cx="640080" cy="64008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3" name="4 · Decisor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51" y="1689811"/>
            <a:ext cx="332842" cy="332842"/>
          </a:xfrm>
          <a:prstGeom prst="rect">
            <a:avLst/>
          </a:prstGeom>
        </p:spPr>
      </p:pic>
      <p:sp>
        <p:nvSpPr>
          <p:cNvPr id="24" name="4 · Decisor nombre"/>
          <p:cNvSpPr txBox="1"/>
          <p:nvPr/>
        </p:nvSpPr>
        <p:spPr>
          <a:xfrm>
            <a:off x="9171432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Decisor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 · JSON estricto</a:t>
            </a:r>
            <a:endParaRPr lang="en-US" sz="1800" dirty="0"/>
          </a:p>
        </p:txBody>
      </p:sp>
      <p:sp>
        <p:nvSpPr>
          <p:cNvPr id="25" name="4 · Decisor hace"/>
          <p:cNvSpPr txBox="1"/>
          <p:nvPr/>
        </p:nvSpPr>
        <p:spPr>
          <a:xfrm>
            <a:off x="9171432" y="3063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Elige, justifica y deja riesgos y checklist.</a:t>
            </a:r>
            <a:endParaRPr lang="en-US" sz="1400" dirty="0"/>
          </a:p>
        </p:txBody>
      </p:sp>
      <p:sp>
        <p:nvSpPr>
          <p:cNvPr id="26" name="4 · Decisor falla"/>
          <p:cNvSpPr txBox="1"/>
          <p:nvPr/>
        </p:nvSpPr>
        <p:spPr>
          <a:xfrm>
            <a:off x="9171432" y="39776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Cifras inventadas → auditoría</a:t>
            </a:r>
            <a:endParaRPr lang="en-US" sz="1300" dirty="0"/>
          </a:p>
        </p:txBody>
      </p:sp>
      <p:sp>
        <p:nvSpPr>
          <p:cNvPr id="27" name="justificación"/>
          <p:cNvSpPr txBox="1"/>
          <p:nvPr/>
        </p:nvSpPr>
        <p:spPr>
          <a:xfrm>
            <a:off x="548640" y="51663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no 3?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propone no debe evaluarse a sí mismo, y quien mide no debe decidir.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no 5?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capacidad y ventanas es cálculo: lo hace un simulador determinista, no otro LLM (exacto, gratis y ahorra ~25% de tokens).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Flujo: secuencial, con un bucle de replanificación</a:t>
            </a:r>
            <a:endParaRPr lang="en-US" sz="3000" dirty="0"/>
          </a:p>
        </p:txBody>
      </p:sp>
      <p:pic>
        <p:nvPicPr>
          <p:cNvPr id="3" name="diagrama de flujo" descr="/Users/nayeli/Desktop/utec/2026-2/planifica/hack-7/entregables/diagrama_fluj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4477460" cy="507492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5778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paso 1 número"/>
          <p:cNvSpPr txBox="1"/>
          <p:nvPr/>
        </p:nvSpPr>
        <p:spPr>
          <a:xfrm>
            <a:off x="55778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paso 1 texto"/>
          <p:cNvSpPr txBox="1"/>
          <p:nvPr/>
        </p:nvSpPr>
        <p:spPr>
          <a:xfrm>
            <a:off x="6217920" y="1289304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→ Planificador → Evaluador → Decisor → coordinador humano.</a:t>
            </a:r>
            <a:endParaRPr lang="en-US" sz="1600" dirty="0"/>
          </a:p>
        </p:txBody>
      </p:sp>
      <p:sp>
        <p:nvSpPr>
          <p:cNvPr id="7" name="paso 2"/>
          <p:cNvSpPr/>
          <p:nvPr/>
        </p:nvSpPr>
        <p:spPr>
          <a:xfrm>
            <a:off x="5577840" y="2532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aso 2 número"/>
          <p:cNvSpPr txBox="1"/>
          <p:nvPr/>
        </p:nvSpPr>
        <p:spPr>
          <a:xfrm>
            <a:off x="557784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paso 2 texto"/>
          <p:cNvSpPr txBox="1"/>
          <p:nvPr/>
        </p:nvSpPr>
        <p:spPr>
          <a:xfrm>
            <a:off x="6217920" y="2496312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pasa entre agentes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verificados del estado compartido (no copiados de texto), estrategias en JSON y KPIs del simulador.</a:t>
            </a:r>
            <a:endParaRPr lang="en-US" sz="1600" dirty="0"/>
          </a:p>
        </p:txBody>
      </p:sp>
      <p:sp>
        <p:nvSpPr>
          <p:cNvPr id="10" name="paso 3"/>
          <p:cNvSpPr/>
          <p:nvPr/>
        </p:nvSpPr>
        <p:spPr>
          <a:xfrm>
            <a:off x="5577840" y="373989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paso 3 número"/>
          <p:cNvSpPr txBox="1"/>
          <p:nvPr/>
        </p:nvSpPr>
        <p:spPr>
          <a:xfrm>
            <a:off x="5577840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paso 3 texto"/>
          <p:cNvSpPr txBox="1"/>
          <p:nvPr/>
        </p:nvSpPr>
        <p:spPr>
          <a:xfrm>
            <a:off x="6217920" y="370332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flujo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Secuencial con bucle condicional: si ninguna estrategia es factible, vuelve al Planificador una sola vez con las violaciones exactas.</a:t>
            </a:r>
            <a:endParaRPr lang="en-US" sz="1600" dirty="0"/>
          </a:p>
        </p:txBody>
      </p:sp>
      <p:sp>
        <p:nvSpPr>
          <p:cNvPr id="13" name="paso 4"/>
          <p:cNvSpPr/>
          <p:nvPr/>
        </p:nvSpPr>
        <p:spPr>
          <a:xfrm>
            <a:off x="5577840" y="494690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paso 4 número"/>
          <p:cNvSpPr txBox="1"/>
          <p:nvPr/>
        </p:nvSpPr>
        <p:spPr>
          <a:xfrm>
            <a:off x="5577840" y="4946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paso 4 texto"/>
          <p:cNvSpPr txBox="1"/>
          <p:nvPr/>
        </p:nvSpPr>
        <p:spPr>
          <a:xfrm>
            <a:off x="6217920" y="49103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integra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Decisor elige y justifica; el orquestador (código) arma las hojas de ruta desde la simulación; el coordinador aprueba.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Groq: 8 tools propias y una demo sin sorpresas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propias con tool calling nativo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</a:t>
            </a:r>
            <a:endParaRPr lang="en-US" sz="1400" dirty="0"/>
          </a:p>
        </p:txBody>
      </p:sp>
      <p:sp>
        <p:nvSpPr>
          <p:cNvPr id="5" name="tool configurar_operacion"/>
          <p:cNvSpPr/>
          <p:nvPr/>
        </p:nvSpPr>
        <p:spPr>
          <a:xfrm>
            <a:off x="548640" y="22585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ool configurar_operacion texto"/>
          <p:cNvSpPr txBox="1"/>
          <p:nvPr/>
        </p:nvSpPr>
        <p:spPr>
          <a:xfrm>
            <a:off x="548640" y="2258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configurar_operacion</a:t>
            </a:r>
            <a:endParaRPr lang="en-US" sz="1300" dirty="0"/>
          </a:p>
        </p:txBody>
      </p:sp>
      <p:sp>
        <p:nvSpPr>
          <p:cNvPr id="7" name="tool agregar_pedido"/>
          <p:cNvSpPr/>
          <p:nvPr/>
        </p:nvSpPr>
        <p:spPr>
          <a:xfrm>
            <a:off x="3246120" y="22585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ool agregar_pedido texto"/>
          <p:cNvSpPr txBox="1"/>
          <p:nvPr/>
        </p:nvSpPr>
        <p:spPr>
          <a:xfrm>
            <a:off x="3246120" y="2258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agregar_pedido</a:t>
            </a:r>
            <a:endParaRPr lang="en-US" sz="1300" dirty="0"/>
          </a:p>
        </p:txBody>
      </p:sp>
      <p:sp>
        <p:nvSpPr>
          <p:cNvPr id="9" name="tool modificar_pedido"/>
          <p:cNvSpPr/>
          <p:nvPr/>
        </p:nvSpPr>
        <p:spPr>
          <a:xfrm>
            <a:off x="548640" y="27157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ool modificar_pedido texto"/>
          <p:cNvSpPr txBox="1"/>
          <p:nvPr/>
        </p:nvSpPr>
        <p:spPr>
          <a:xfrm>
            <a:off x="548640" y="27157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modificar_pedido</a:t>
            </a:r>
            <a:endParaRPr lang="en-US" sz="1300" dirty="0"/>
          </a:p>
        </p:txBody>
      </p:sp>
      <p:sp>
        <p:nvSpPr>
          <p:cNvPr id="11" name="tool cancelar_pedido"/>
          <p:cNvSpPr/>
          <p:nvPr/>
        </p:nvSpPr>
        <p:spPr>
          <a:xfrm>
            <a:off x="3246120" y="27157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ool cancelar_pedido texto"/>
          <p:cNvSpPr txBox="1"/>
          <p:nvPr/>
        </p:nvSpPr>
        <p:spPr>
          <a:xfrm>
            <a:off x="3246120" y="27157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cancelar_pedido</a:t>
            </a:r>
            <a:endParaRPr lang="en-US" sz="1300" dirty="0"/>
          </a:p>
        </p:txBody>
      </p:sp>
      <p:sp>
        <p:nvSpPr>
          <p:cNvPr id="13" name="tool registrar_restriccion"/>
          <p:cNvSpPr/>
          <p:nvPr/>
        </p:nvSpPr>
        <p:spPr>
          <a:xfrm>
            <a:off x="548640" y="31729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ool registrar_restriccion texto"/>
          <p:cNvSpPr txBox="1"/>
          <p:nvPr/>
        </p:nvSpPr>
        <p:spPr>
          <a:xfrm>
            <a:off x="548640" y="31729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registrar_restriccion</a:t>
            </a:r>
            <a:endParaRPr lang="en-US" sz="1300" dirty="0"/>
          </a:p>
        </p:txBody>
      </p:sp>
      <p:sp>
        <p:nvSpPr>
          <p:cNvPr id="15" name="tool resumen_operacion"/>
          <p:cNvSpPr/>
          <p:nvPr/>
        </p:nvSpPr>
        <p:spPr>
          <a:xfrm>
            <a:off x="3246120" y="3172968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ool resumen_operacion texto"/>
          <p:cNvSpPr txBox="1"/>
          <p:nvPr/>
        </p:nvSpPr>
        <p:spPr>
          <a:xfrm>
            <a:off x="3246120" y="31729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resumen_operacion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81304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Evaluador</a:t>
            </a:r>
            <a:endParaRPr lang="en-US" sz="1400" dirty="0"/>
          </a:p>
        </p:txBody>
      </p:sp>
      <p:sp>
        <p:nvSpPr>
          <p:cNvPr id="18" name="tool simular_estrategias"/>
          <p:cNvSpPr/>
          <p:nvPr/>
        </p:nvSpPr>
        <p:spPr>
          <a:xfrm>
            <a:off x="548640" y="4197096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ool simular_estrategias texto"/>
          <p:cNvSpPr txBox="1"/>
          <p:nvPr/>
        </p:nvSpPr>
        <p:spPr>
          <a:xfrm>
            <a:off x="548640" y="41970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simular_estrategias</a:t>
            </a:r>
            <a:endParaRPr lang="en-US" sz="1300" dirty="0"/>
          </a:p>
        </p:txBody>
      </p:sp>
      <p:sp>
        <p:nvSpPr>
          <p:cNvPr id="20" name="tool prueba_estres"/>
          <p:cNvSpPr/>
          <p:nvPr/>
        </p:nvSpPr>
        <p:spPr>
          <a:xfrm>
            <a:off x="3246120" y="4197096"/>
            <a:ext cx="2560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ool prueba_estres texto"/>
          <p:cNvSpPr txBox="1"/>
          <p:nvPr/>
        </p:nvSpPr>
        <p:spPr>
          <a:xfrm>
            <a:off x="3246120" y="41970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prueba_estres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82896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tool valida sus argumentos y responde ok o un error legible, así el agente puede corregir su propia llamada.</a:t>
            </a:r>
            <a:endParaRPr lang="en-US" sz="1400" dirty="0"/>
          </a:p>
        </p:txBody>
      </p:sp>
      <p:sp>
        <p:nvSpPr>
          <p:cNvPr id="23" name="Una key por integrante círculo"/>
          <p:cNvSpPr/>
          <p:nvPr/>
        </p:nvSpPr>
        <p:spPr>
          <a:xfrm>
            <a:off x="6492240" y="137160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4" name="Una key por integrante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2941" y="1492301"/>
            <a:ext cx="261518" cy="261518"/>
          </a:xfrm>
          <a:prstGeom prst="rect">
            <a:avLst/>
          </a:prstGeom>
        </p:spPr>
      </p:pic>
      <p:sp>
        <p:nvSpPr>
          <p:cNvPr id="25" name="fila Una key por integrante"/>
          <p:cNvSpPr txBox="1"/>
          <p:nvPr/>
        </p:nvSpPr>
        <p:spPr>
          <a:xfrm>
            <a:off x="7178040" y="132588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key por integrante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leen del .env y se rotan automáticamente.</a:t>
            </a:r>
            <a:endParaRPr lang="en-US" sz="1600" dirty="0"/>
          </a:p>
        </p:txBody>
      </p:sp>
      <p:sp>
        <p:nvSpPr>
          <p:cNvPr id="26" name="Lectura de rate limits círculo"/>
          <p:cNvSpPr/>
          <p:nvPr/>
        </p:nvSpPr>
        <p:spPr>
          <a:xfrm>
            <a:off x="6492240" y="228600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7" name="Lectura de rate limits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1" y="2406701"/>
            <a:ext cx="261518" cy="261518"/>
          </a:xfrm>
          <a:prstGeom prst="rect">
            <a:avLst/>
          </a:prstGeom>
        </p:spPr>
      </p:pic>
      <p:sp>
        <p:nvSpPr>
          <p:cNvPr id="28" name="fila Lectura de rate limits"/>
          <p:cNvSpPr txBox="1"/>
          <p:nvPr/>
        </p:nvSpPr>
        <p:spPr>
          <a:xfrm>
            <a:off x="7178040" y="224028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rate limits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Cabeceras x-ratelimit-* y retry-after: espera o cambia de key.</a:t>
            </a:r>
            <a:endParaRPr lang="en-US" sz="1600" dirty="0"/>
          </a:p>
        </p:txBody>
      </p:sp>
      <p:sp>
        <p:nvSpPr>
          <p:cNvPr id="29" name="Modelos de respaldo círculo"/>
          <p:cNvSpPr/>
          <p:nvPr/>
        </p:nvSpPr>
        <p:spPr>
          <a:xfrm>
            <a:off x="6492240" y="320040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Modelos de respaldo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3321101"/>
            <a:ext cx="261518" cy="261518"/>
          </a:xfrm>
          <a:prstGeom prst="rect">
            <a:avLst/>
          </a:prstGeom>
        </p:spPr>
      </p:pic>
      <p:sp>
        <p:nvSpPr>
          <p:cNvPr id="31" name="fila Modelos de respaldo"/>
          <p:cNvSpPr txBox="1"/>
          <p:nvPr/>
        </p:nvSpPr>
        <p:spPr>
          <a:xfrm>
            <a:off x="7178040" y="315468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respaldo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un modelo no está disponible, el agente pasa al siguiente.</a:t>
            </a:r>
            <a:endParaRPr lang="en-US" sz="1600" dirty="0"/>
          </a:p>
        </p:txBody>
      </p:sp>
      <p:sp>
        <p:nvSpPr>
          <p:cNvPr id="32" name="Preflight antes de la demo círculo"/>
          <p:cNvSpPr/>
          <p:nvPr/>
        </p:nvSpPr>
        <p:spPr>
          <a:xfrm>
            <a:off x="6492240" y="411480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3" name="Preflight antes de la demo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1" y="4235501"/>
            <a:ext cx="261518" cy="261518"/>
          </a:xfrm>
          <a:prstGeom prst="rect">
            <a:avLst/>
          </a:prstGeom>
        </p:spPr>
      </p:pic>
      <p:sp>
        <p:nvSpPr>
          <p:cNvPr id="34" name="fila Preflight antes de la demo"/>
          <p:cNvSpPr txBox="1"/>
          <p:nvPr/>
        </p:nvSpPr>
        <p:spPr>
          <a:xfrm>
            <a:off x="7178040" y="406908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Preflight antes de la demo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 keys, modelos disponibles y cuota restante.</a:t>
            </a:r>
            <a:endParaRPr lang="en-US" sz="1600" dirty="0"/>
          </a:p>
        </p:txBody>
      </p:sp>
      <p:sp>
        <p:nvSpPr>
          <p:cNvPr id="35" name="consumo"/>
          <p:cNvSpPr/>
          <p:nvPr/>
        </p:nvSpPr>
        <p:spPr>
          <a:xfrm>
            <a:off x="6492240" y="5120640"/>
            <a:ext cx="51206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consumo texto"/>
          <p:cNvSpPr txBox="1"/>
          <p:nvPr/>
        </p:nvSpPr>
        <p:spPr>
          <a:xfrm>
            <a:off x="6720840" y="513892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36.1 mil tokens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corrida completa · 10 llamadas a la API · 2 modelos para repartir la cuota por minuto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en vivo: ustedes dictan el input</a:t>
            </a:r>
            <a:endParaRPr lang="en-US" sz="3000" dirty="0"/>
          </a:p>
        </p:txBody>
      </p:sp>
      <p:sp>
        <p:nvSpPr>
          <p:cNvPr id="3" name="input pedidos"/>
          <p:cNvSpPr/>
          <p:nvPr/>
        </p:nvSpPr>
        <p:spPr>
          <a:xfrm>
            <a:off x="548640" y="146304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34312D"/>
          </a:solidFill>
          <a:ln w="12700">
            <a:solidFill>
              <a:srgbClr val="34312D"/>
            </a:solidFill>
            <a:prstDash val="solid"/>
          </a:ln>
        </p:spPr>
      </p:sp>
      <p:sp>
        <p:nvSpPr>
          <p:cNvPr id="4" name="input pedidos texto"/>
          <p:cNvSpPr txBox="1"/>
          <p:nvPr/>
        </p:nvSpPr>
        <p:spPr>
          <a:xfrm>
            <a:off x="777240" y="16002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pedidos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obligatorio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“Agreguen un urgente de 20 kg de pollo en Lince, 8:30–9:15”</a:t>
            </a:r>
            <a:endParaRPr lang="en-US" sz="2000" dirty="0"/>
          </a:p>
        </p:txBody>
      </p:sp>
      <p:sp>
        <p:nvSpPr>
          <p:cNvPr id="5" name="input flota"/>
          <p:cNvSpPr/>
          <p:nvPr/>
        </p:nvSpPr>
        <p:spPr>
          <a:xfrm>
            <a:off x="4297680" y="146304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34312D"/>
          </a:solidFill>
          <a:ln w="12700">
            <a:solidFill>
              <a:srgbClr val="34312D"/>
            </a:solidFill>
            <a:prstDash val="solid"/>
          </a:ln>
        </p:spPr>
      </p:sp>
      <p:sp>
        <p:nvSpPr>
          <p:cNvPr id="6" name="input flota texto"/>
          <p:cNvSpPr txBox="1"/>
          <p:nvPr/>
        </p:nvSpPr>
        <p:spPr>
          <a:xfrm>
            <a:off x="4526280" y="16002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flota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obligatorio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“Hoy se malogró una furgoneta”</a:t>
            </a:r>
            <a:endParaRPr lang="en-US" sz="2000" dirty="0"/>
          </a:p>
        </p:txBody>
      </p:sp>
      <p:sp>
        <p:nvSpPr>
          <p:cNvPr id="7" name="input horario"/>
          <p:cNvSpPr/>
          <p:nvPr/>
        </p:nvSpPr>
        <p:spPr>
          <a:xfrm>
            <a:off x="8046720" y="146304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34312D"/>
          </a:solidFill>
          <a:ln w="12700">
            <a:solidFill>
              <a:srgbClr val="34312D"/>
            </a:solidFill>
            <a:prstDash val="solid"/>
          </a:ln>
        </p:spPr>
      </p:sp>
      <p:sp>
        <p:nvSpPr>
          <p:cNvPr id="8" name="input horario texto"/>
          <p:cNvSpPr txBox="1"/>
          <p:nvPr/>
        </p:nvSpPr>
        <p:spPr>
          <a:xfrm>
            <a:off x="8275320" y="16002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horario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“Salimos a las 8 y volvemos antes de las 2”</a:t>
            </a:r>
            <a:endParaRPr lang="en-US" sz="2000" dirty="0"/>
          </a:p>
        </p:txBody>
      </p:sp>
      <p:sp>
        <p:nvSpPr>
          <p:cNvPr id="9" name="input restricciones"/>
          <p:cNvSpPr/>
          <p:nvPr/>
        </p:nvSpPr>
        <p:spPr>
          <a:xfrm>
            <a:off x="2423160" y="315468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34312D"/>
          </a:solidFill>
          <a:ln w="12700">
            <a:solidFill>
              <a:srgbClr val="34312D"/>
            </a:solidFill>
            <a:prstDash val="solid"/>
          </a:ln>
        </p:spPr>
      </p:sp>
      <p:sp>
        <p:nvSpPr>
          <p:cNvPr id="10" name="input restricciones texto"/>
          <p:cNvSpPr txBox="1"/>
          <p:nvPr/>
        </p:nvSpPr>
        <p:spPr>
          <a:xfrm>
            <a:off x="2651760" y="329184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restricciones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“Marcha en el Centro: 50% más lento”</a:t>
            </a:r>
            <a:endParaRPr lang="en-US" sz="2000" dirty="0"/>
          </a:p>
        </p:txBody>
      </p:sp>
      <p:sp>
        <p:nvSpPr>
          <p:cNvPr id="11" name="input objetivo"/>
          <p:cNvSpPr/>
          <p:nvPr/>
        </p:nvSpPr>
        <p:spPr>
          <a:xfrm>
            <a:off x="6172200" y="315468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34312D"/>
          </a:solidFill>
          <a:ln w="12700">
            <a:solidFill>
              <a:srgbClr val="34312D"/>
            </a:solidFill>
            <a:prstDash val="solid"/>
          </a:ln>
        </p:spPr>
      </p:sp>
      <p:sp>
        <p:nvSpPr>
          <p:cNvPr id="12" name="input objetivo texto"/>
          <p:cNvSpPr txBox="1"/>
          <p:nvPr/>
        </p:nvSpPr>
        <p:spPr>
          <a:xfrm>
            <a:off x="6400800" y="329184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· objetivo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“Hoy importa gastar lo menos posible”</a:t>
            </a:r>
            <a:endParaRPr lang="en-US" sz="2000" dirty="0"/>
          </a:p>
        </p:txBody>
      </p:sp>
      <p:sp>
        <p:nvSpPr>
          <p:cNvPr id="13" name="evidencia tools círculo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4" name="evidencia tools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5195621"/>
            <a:ext cx="261518" cy="26151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234440" y="50292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corre, cada línea con la llave inglesa es una tool que un agente acaba de ejecutar: esa es la evidencia de uso de tools.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 base: la decisión y cuánto confiar en ella</a:t>
            </a:r>
            <a:endParaRPr lang="en-US" sz="3000" dirty="0"/>
          </a:p>
        </p:txBody>
      </p:sp>
      <p:pic>
        <p:nvPicPr>
          <p:cNvPr id="3" name="gráfico puntajes" descr="Puntaje de cada estrategia: A ✗ 46.5, B ✗ 41.3, C 49.2, H (sin LLM) 1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760720" cy="3429000"/>
          </a:xfrm>
          <a:prstGeom prst="rect">
            <a:avLst/>
          </a:prstGeom>
        </p:spPr>
      </p:pic>
      <p:sp>
        <p:nvSpPr>
          <p:cNvPr id="4" name="decisión"/>
          <p:cNvSpPr/>
          <p:nvPr/>
        </p:nvSpPr>
        <p:spPr>
          <a:xfrm>
            <a:off x="548640" y="4800600"/>
            <a:ext cx="57607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ecisión texto"/>
          <p:cNvSpPr txBox="1"/>
          <p:nvPr/>
        </p:nvSpPr>
        <p:spPr>
          <a:xfrm>
            <a:off x="777240" y="4892040"/>
            <a:ext cx="5349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Elegida: H · Línea base: heurística voraz sin LLM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 356.1 · 100% a tiempo · urgentes 6/6 · regreso 12:14</a:t>
            </a:r>
            <a:endParaRPr lang="en-US" sz="1600" dirty="0"/>
          </a:p>
        </p:txBody>
      </p:sp>
      <p:sp>
        <p:nvSpPr>
          <p:cNvPr id="6" name="Agentes vs. línea base H (sin LLM) círculo"/>
          <p:cNvSpPr/>
          <p:nvPr/>
        </p:nvSpPr>
        <p:spPr>
          <a:xfrm>
            <a:off x="6675120" y="1325880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7" name="Agentes vs. línea base H (sin LLM)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5821" y="1446581"/>
            <a:ext cx="261518" cy="261518"/>
          </a:xfrm>
          <a:prstGeom prst="rect">
            <a:avLst/>
          </a:prstGeom>
        </p:spPr>
      </p:pic>
      <p:sp>
        <p:nvSpPr>
          <p:cNvPr id="8" name="fila Agentes vs. línea base H (sin LLM)"/>
          <p:cNvSpPr txBox="1"/>
          <p:nvPr/>
        </p:nvSpPr>
        <p:spPr>
          <a:xfrm>
            <a:off x="7360920" y="128016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vs. línea base H (sin LLM)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 propuesta de los agentes 49.2 vs H 100 puntos. Gana la regla simple: H funciona como red de seguridad.</a:t>
            </a:r>
            <a:endParaRPr lang="en-US" sz="1600" dirty="0"/>
          </a:p>
        </p:txBody>
      </p:sp>
      <p:sp>
        <p:nvSpPr>
          <p:cNvPr id="9" name="Auditoría automática círculo"/>
          <p:cNvSpPr/>
          <p:nvPr/>
        </p:nvSpPr>
        <p:spPr>
          <a:xfrm>
            <a:off x="6675120" y="2542032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Auditoría automática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821" y="2662733"/>
            <a:ext cx="261518" cy="261518"/>
          </a:xfrm>
          <a:prstGeom prst="rect">
            <a:avLst/>
          </a:prstGeom>
        </p:spPr>
      </p:pic>
      <p:sp>
        <p:nvSpPr>
          <p:cNvPr id="11" name="fila Auditoría automática"/>
          <p:cNvSpPr txBox="1"/>
          <p:nvPr/>
        </p:nvSpPr>
        <p:spPr>
          <a:xfrm>
            <a:off x="7360920" y="2496312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Auditoría automática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de 11 verificaciones OK; 0 críticas fallidas. Revisa que las cifras citadas existan en el simulador.</a:t>
            </a:r>
            <a:endParaRPr lang="en-US" sz="1600" dirty="0"/>
          </a:p>
        </p:txBody>
      </p:sp>
      <p:sp>
        <p:nvSpPr>
          <p:cNvPr id="12" name="Datos incorrectos círculo"/>
          <p:cNvSpPr/>
          <p:nvPr/>
        </p:nvSpPr>
        <p:spPr>
          <a:xfrm>
            <a:off x="6675120" y="3758184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3" name="Datos incorrecto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821" y="3878885"/>
            <a:ext cx="261518" cy="261518"/>
          </a:xfrm>
          <a:prstGeom prst="rect">
            <a:avLst/>
          </a:prstGeom>
        </p:spPr>
      </p:pic>
      <p:sp>
        <p:nvSpPr>
          <p:cNvPr id="14" name="fila Datos incorrectos"/>
          <p:cNvSpPr txBox="1"/>
          <p:nvPr/>
        </p:nvSpPr>
        <p:spPr>
          <a:xfrm>
            <a:off x="7360920" y="3712464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incorrectos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errores de formato se rechazan. Un error plausible (150 kg en vez de 15) pasa: por eso revisa una persona.</a:t>
            </a:r>
            <a:endParaRPr lang="en-US" sz="1600" dirty="0"/>
          </a:p>
        </p:txBody>
      </p:sp>
      <p:sp>
        <p:nvSpPr>
          <p:cNvPr id="15" name="Flota insuficiente círculo"/>
          <p:cNvSpPr/>
          <p:nvPr/>
        </p:nvSpPr>
        <p:spPr>
          <a:xfrm>
            <a:off x="6675120" y="4974336"/>
            <a:ext cx="502920" cy="5029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6" name="Flota insuficiente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5821" y="5095037"/>
            <a:ext cx="261518" cy="261518"/>
          </a:xfrm>
          <a:prstGeom prst="rect">
            <a:avLst/>
          </a:prstGeom>
        </p:spPr>
      </p:pic>
      <p:sp>
        <p:nvSpPr>
          <p:cNvPr id="17" name="fila Flota insuficiente"/>
          <p:cNvSpPr txBox="1"/>
          <p:nvPr/>
        </p:nvSpPr>
        <p:spPr>
          <a:xfrm>
            <a:off x="7360920" y="4928616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Flota insuficiente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replanificación(es); la auditoría marcó 4 problemas (incluidos errores del Decisor) y escaló a una persona.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el sistema no decide solo</a:t>
            </a:r>
            <a:endParaRPr lang="en-US" sz="3000" dirty="0"/>
          </a:p>
        </p:txBody>
      </p:sp>
      <p:sp>
        <p:nvSpPr>
          <p:cNvPr id="3" name="Dónde interviene una persona círculo"/>
          <p:cNvSpPr/>
          <p:nvPr/>
        </p:nvSpPr>
        <p:spPr>
          <a:xfrm>
            <a:off x="548640" y="1371600"/>
            <a:ext cx="548640" cy="548640"/>
          </a:xfrm>
          <a:prstGeom prst="ellipse">
            <a:avLst/>
          </a:prstGeom>
          <a:solidFill>
            <a:srgbClr val="1B9E6F"/>
          </a:solidFill>
          <a:ln w="12700">
            <a:solidFill>
              <a:srgbClr val="1B9E6F"/>
            </a:solidFill>
            <a:prstDash val="solid"/>
          </a:ln>
        </p:spPr>
      </p:sp>
      <p:pic>
        <p:nvPicPr>
          <p:cNvPr id="4" name="Dónde interviene una persona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50327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371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Dónde interviene una persona</a:t>
            </a:r>
            <a:endParaRPr lang="en-US" sz="2000" dirty="0"/>
          </a:p>
        </p:txBody>
      </p:sp>
      <p:sp>
        <p:nvSpPr>
          <p:cNvPr id="6" name="Dónde interviene una persona lista"/>
          <p:cNvSpPr txBox="1"/>
          <p:nvPr/>
        </p:nvSpPr>
        <p:spPr>
          <a:xfrm>
            <a:off x="640080" y="21488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los cambios que interpretó el Analista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Hace el checklist antes de despachar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en cualquier escalamiento (subcontratar, renegociar)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Aprueba o rechaza el plan final</a:t>
            </a:r>
            <a:endParaRPr lang="en-US" sz="1600" dirty="0"/>
          </a:p>
        </p:txBody>
      </p:sp>
      <p:sp>
        <p:nvSpPr>
          <p:cNvPr id="7" name="Siguiente versión círculo"/>
          <p:cNvSpPr/>
          <p:nvPr/>
        </p:nvSpPr>
        <p:spPr>
          <a:xfrm>
            <a:off x="6217920" y="1371600"/>
            <a:ext cx="548640" cy="54864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8" name="Siguiente versión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594" y="150327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49440" y="1371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Siguiente versión</a:t>
            </a:r>
            <a:endParaRPr lang="en-US" sz="2000" dirty="0"/>
          </a:p>
        </p:txBody>
      </p:sp>
      <p:sp>
        <p:nvSpPr>
          <p:cNvPr id="10" name="Siguiente versión lista"/>
          <p:cNvSpPr txBox="1"/>
          <p:nvPr/>
        </p:nvSpPr>
        <p:spPr>
          <a:xfrm>
            <a:off x="6309360" y="21488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Tiempos reales con una API de rutas y tráfico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OR-Tools (VRPTW) como tool del Planificador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contra el histórico de cada cliente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Varias corridas y voto para medir estabilidad</a:t>
            </a:r>
            <a:endParaRPr lang="en-US" sz="1600" dirty="0"/>
          </a:p>
        </p:txBody>
      </p:sp>
      <p:sp>
        <p:nvSpPr>
          <p:cNvPr id="11" name="mensaje final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LLM interpreta y juzga; el código calcula y verifica; la persona decide.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 · ¿Preguntas?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utaBrasa">
  <a:themeElements>
    <a:clrScheme name="RutaBrasa">
      <a:dk1>
        <a:srgbClr val="211F1C"/>
      </a:dk1>
      <a:lt1>
        <a:srgbClr val="FFFFFF"/>
      </a:lt1>
      <a:dk2>
        <a:srgbClr val="5B5954"/>
      </a:dk2>
      <a:lt2>
        <a:srgbClr val="F3F2EF"/>
      </a:lt2>
      <a:accent1>
        <a:srgbClr val="E8590C"/>
      </a:accent1>
      <a:accent2>
        <a:srgbClr val="2A78D6"/>
      </a:accent2>
      <a:accent3>
        <a:srgbClr val="1B9E6F"/>
      </a:accent3>
      <a:accent4>
        <a:srgbClr val="EDA100"/>
      </a:accent4>
      <a:accent5>
        <a:srgbClr val="8A8781"/>
      </a:accent5>
      <a:accent6>
        <a:srgbClr val="C9C6BF"/>
      </a:accent6>
      <a:hlink>
        <a:srgbClr val="2A78D6"/>
      </a:hlink>
      <a:folHlink>
        <a:srgbClr val="5B5954"/>
      </a:folHlink>
    </a:clrScheme>
    <a:fontScheme name="RutaBrasa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RutaBrasa: sistema multi-agente con Groq</dc:title>
  <dc:subject>PptxGenJS Presentation</dc:subject>
  <dc:creator>Las Grills</dc:creator>
  <cp:lastModifiedBy>Las Grills</cp:lastModifiedBy>
  <cp:revision>1</cp:revision>
  <dcterms:created xsi:type="dcterms:W3CDTF">2026-10-14T04:59:28Z</dcterms:created>
  <dcterms:modified xsi:type="dcterms:W3CDTF">2026-10-14T04:59:28Z</dcterms:modified>
</cp:coreProperties>
</file>